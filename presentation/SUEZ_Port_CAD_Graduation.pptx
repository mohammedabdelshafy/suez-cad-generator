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38100" cy="32918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411480"/>
            <a:ext cx="1755199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137160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00">
                <a:solidFill>
                  <a:srgbClr val="FFB454"/>
                </a:solidFill>
                <a:latin typeface="Bahnschrift"/>
              </a:rPr>
              <a:t>ARAB ACADEMY FOR SCIENCE, TECHNOLOGY &amp; MARITIME TRANSPORT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664208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83B4AB"/>
                </a:solidFill>
                <a:latin typeface="Bahnschrift"/>
              </a:rPr>
              <a:t>GRADUATION PROJECT · ECB 3802 · MARINE PORT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874519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 spc="100">
                <a:solidFill>
                  <a:srgbClr val="EAFFFB"/>
                </a:solidFill>
                <a:latin typeface="Bahnschrift"/>
              </a:rPr>
              <a:t>SUEZ PORT CAD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004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spc="100">
                <a:solidFill>
                  <a:srgbClr val="19F0C8"/>
                </a:solidFill>
                <a:latin typeface="Bahnschrift"/>
              </a:rPr>
              <a:t>CAD &amp; Masterplan Design AI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3B4AB"/>
                </a:solidFill>
                <a:latin typeface="Segoe UI"/>
              </a:rPr>
              <a:t>Design-Vessel Port Dimensioning &amp; Automated Masterplan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46320"/>
            <a:ext cx="4572000" cy="1905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0292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3B4AB"/>
                </a:solidFill>
                <a:latin typeface="Segoe UI"/>
              </a:rPr>
              <a:t>Presented by   </a:t>
            </a:r>
            <a:r>
              <a:rPr sz="1400" b="1" i="0">
                <a:solidFill>
                  <a:srgbClr val="D6F2EC"/>
                </a:solidFill>
                <a:latin typeface="Segoe UI"/>
              </a:rPr>
              <a:t>Mohammed Abdelshafy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Supervisor       </a:t>
            </a:r>
            <a:r>
              <a:rPr sz="1400" b="1" i="0">
                <a:solidFill>
                  <a:srgbClr val="D6F2EC"/>
                </a:solidFill>
                <a:latin typeface="Segoe UI"/>
              </a:rPr>
              <a:t>Dr. Waleed Elemary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Year                  </a:t>
            </a:r>
            <a:r>
              <a:rPr sz="1400" b="1" i="0">
                <a:solidFill>
                  <a:srgbClr val="D6F2EC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02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OUTLINE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Agenda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01168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01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Introduction &amp; problem statement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02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Project objectives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03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The design vessel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04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Theoretical basis — PIANC / UNCTAD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05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Dimensioning formulas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06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The AI-engineer tool &amp; architecture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07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Automated CAD masterplan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08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Worked example &amp; results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09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Designing for the maximum-LOA vessel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10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Met-ocean basis — wind, tides &amp; waves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11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Wind rose &amp; prevailing wind direction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12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Wave transformation &amp; design wave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13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Validation &amp; limitations</a:t>
            </a:r>
          </a:p>
          <a:p>
            <a:pPr algn="l">
              <a:spcBef>
                <a:spcPts val="1400"/>
              </a:spcBef>
            </a:pPr>
            <a:r>
              <a:rPr sz="1800" b="1" i="0">
                <a:solidFill>
                  <a:srgbClr val="19F0C8"/>
                </a:solidFill>
                <a:latin typeface="Consolas"/>
              </a:rPr>
              <a:t>14  </a:t>
            </a:r>
            <a:r>
              <a:rPr sz="1800" b="0" i="0">
                <a:solidFill>
                  <a:srgbClr val="D6F2EC"/>
                </a:solidFill>
                <a:latin typeface="Segoe U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03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Why Port Dimensioning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1024128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The Suez corridor carries ~12% of global trade.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Port &amp; harbour geometry must safely accommodate the largest design vessel.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Vessels keep growing — ULCVs now exceed 400 m LOA.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Channels, basins and berths must be re-checked against the design ship.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Concept dimensioning is repetitive and error-prone by hand.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Dozens of interdependent PIANC / UNCTAD rules per layout.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Need: a fast, standards-based engine that also produces CAD.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Seconds instead of hours — with an AutoCAD-ready masterplan.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04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Project Objectives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1024128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6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0" i="0">
                <a:solidFill>
                  <a:srgbClr val="D6F2EC"/>
                </a:solidFill>
                <a:latin typeface="Segoe UI"/>
              </a:rPr>
              <a:t>Compute the principal port dimensions from a single design vessel.</a:t>
            </a:r>
          </a:p>
          <a:p>
            <a:pPr algn="l">
              <a:spcBef>
                <a:spcPts val="16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0" i="0">
                <a:solidFill>
                  <a:srgbClr val="D6F2EC"/>
                </a:solidFill>
                <a:latin typeface="Segoe UI"/>
              </a:rPr>
              <a:t>Apply recognised concept methods — PIANC WG121, UNCTAD, Barrass squat.</a:t>
            </a:r>
          </a:p>
          <a:p>
            <a:pPr algn="l">
              <a:spcBef>
                <a:spcPts val="16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0" i="0">
                <a:solidFill>
                  <a:srgbClr val="D6F2EC"/>
                </a:solidFill>
                <a:latin typeface="Segoe UI"/>
              </a:rPr>
              <a:t>Generate a to-scale CAD masterplan automatically (DXF / SVG / PNG).</a:t>
            </a:r>
          </a:p>
          <a:p>
            <a:pPr algn="l">
              <a:spcBef>
                <a:spcPts val="16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0" i="0">
                <a:solidFill>
                  <a:srgbClr val="D6F2EC"/>
                </a:solidFill>
                <a:latin typeface="Segoe UI"/>
              </a:rPr>
              <a:t>Deliver an interactive, validated AI-engineer web interface.</a:t>
            </a:r>
          </a:p>
          <a:p>
            <a:pPr algn="l">
              <a:spcBef>
                <a:spcPts val="16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0" i="0">
                <a:solidFill>
                  <a:srgbClr val="D6F2EC"/>
                </a:solidFill>
                <a:latin typeface="Segoe UI"/>
              </a:rPr>
              <a:t>Keep one source of truth: numbers → geometry → drawing.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05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The Design Vessel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585216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Definition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the largest vessel the port must routinely serve.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Geometric particulars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LOA, beam B, draft T, deadweight (DWT).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Hydrodynamic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transit speed V and block coefficient Cb (hull fullness).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Operational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exposure, channel type, manoeuvre aids, number of berths.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011680"/>
            <a:ext cx="4023360" cy="365760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2011680"/>
            <a:ext cx="31750" cy="36576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FFB454"/>
                </a:solidFill>
                <a:latin typeface="Bahnschrift"/>
              </a:rPr>
              <a:t>BLOCK COEFFICIENT  Cb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97480"/>
            <a:ext cx="3657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Container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0.65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Tanker   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0.82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Bulk     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0.85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General  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0.70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Cruise   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0.62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Lng      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0.74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D6F2EC"/>
                </a:solidFill>
                <a:latin typeface="Consolas"/>
              </a:rPr>
              <a:t>Roro       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0.68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06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Theoretical Basis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1024128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PIANC WG121 — Harbour Approach Channels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concept (Class III) design method for depth &amp; width.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UNCTAD &amp; standard port practice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turning basins, quay length, anchorage geometry.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Barrass II — ship squat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speed-dependent dynamic sinkage in shallow water.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Under-keel clearance (UKC) philosophy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manoeuvrability margin + wave allowance by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83B4AB"/>
                </a:solidFill>
                <a:latin typeface="Segoe UI"/>
              </a:rPr>
              <a:t>Scope: planning / concept level — to be confirmed by detailed study.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07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FORMULAS · 1 OF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Channel Depth &amp; Squat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01168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176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SHIP SQUAT  (Barrass II)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786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S = Cb · V² /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maximum bow squat in open water [m]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01168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01168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176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NET UNDER-KEEL CLEARANCE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5786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UKC = max(0.05 · T, 0.5)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manoeuvrability &amp; bottom margin [m]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79476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" y="379476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9593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APPROACH CHANNEL DEPTH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3616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D = T + UKC + S + Hw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92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Hw = wave allowance by exposure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9476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79476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9593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BERTH POCKET DEPTH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616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Db = T + max(0.07 · T, 0.5)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92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alongside, reduced-speed squat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08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FORMULAS · 2 OF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Approach Channel Width — PIANC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10241280" cy="14630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011680"/>
            <a:ext cx="31750" cy="14630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17627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TWO-WAY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78608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W = 2(1.5B) + 2(a·B) + 1.6B + 2(0.5B)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1752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two manoeuvring lanes + passing distance + bank clearances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657600"/>
            <a:ext cx="10241280" cy="14630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657600"/>
            <a:ext cx="31750" cy="14630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822191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ONE-WAY CHANNEL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24528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W = 1.5B + a·B + 2(0.5B)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66344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single lane + additional widths + bank clearances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44068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3B4AB"/>
                </a:solidFill>
                <a:latin typeface="Segoe UI"/>
              </a:rPr>
              <a:t>a = exposure width factor   </a:t>
            </a:r>
            <a:r>
              <a:rPr sz="1400" b="1" i="0">
                <a:solidFill>
                  <a:srgbClr val="5EF0FF"/>
                </a:solidFill>
                <a:latin typeface="Consolas"/>
              </a:rPr>
              <a:t>sheltered 0.6   ·   moderate 1.3   ·   exposed 2.2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09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FORMULAS · 3 OF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Turning, Quay, Stopping &amp; Anchorage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01168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176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TURNING CIRCLE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786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Dt = k · LOA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k: none 2.0 · tugs 1.6 · thrusters 1.5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01168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01168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176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TOTAL QUAY LENGTH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5786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Lq = n·LOA + (n+1)·c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c = max(0.10·LOA, 15) m clearance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79476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" y="379476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9593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DESIGN STOPPING 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3616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Ls ≈ 7 · LOA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92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loaded, emergency astern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94760"/>
            <a:ext cx="5029200" cy="15544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794760"/>
            <a:ext cx="31750" cy="155448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9593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ANCHORAGE SWING RADIUS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616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R = LOA + 6·D + 30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92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single-point swing mooring; A = π·R²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10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The AI-Engineer 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576072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FastAPI calculation engine (Python)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dimensioning formulas + plan geometry.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Interactive browser interface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presets, live validation, instant results.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ezdxf CAD exporter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AutoCAD-ready DXF, plus SVG / PNG / JSON.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Single source of truth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the same numbers drive screen and drawing.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2011680"/>
            <a:ext cx="4114800" cy="365760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2011680"/>
            <a:ext cx="31750" cy="3657600"/>
          </a:xfrm>
          <a:prstGeom prst="rect">
            <a:avLst/>
          </a:prstGeom>
          <a:solidFill>
            <a:srgbClr val="7A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300">
                <a:solidFill>
                  <a:srgbClr val="7A5CFF"/>
                </a:solidFill>
                <a:latin typeface="Bahnschrift"/>
              </a:rPr>
              <a:t>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697480"/>
            <a:ext cx="3657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 i="0">
                <a:solidFill>
                  <a:srgbClr val="7A5CFF"/>
                </a:solidFill>
                <a:latin typeface="Consolas"/>
              </a:rPr>
              <a:t>1  </a:t>
            </a:r>
            <a:r>
              <a:rPr sz="1500" b="0" i="0">
                <a:solidFill>
                  <a:srgbClr val="D6F2EC"/>
                </a:solidFill>
                <a:latin typeface="Segoe UI"/>
              </a:rPr>
              <a:t>Design vessel input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Consolas"/>
              </a:rPr>
              <a:t>     ↓</a:t>
            </a:r>
          </a:p>
          <a:p>
            <a:pPr algn="l">
              <a:spcBef>
                <a:spcPts val="1000"/>
              </a:spcBef>
            </a:pPr>
            <a:r>
              <a:rPr sz="1600" b="1" i="0">
                <a:solidFill>
                  <a:srgbClr val="7A5CFF"/>
                </a:solidFill>
                <a:latin typeface="Consolas"/>
              </a:rPr>
              <a:t>2  </a:t>
            </a:r>
            <a:r>
              <a:rPr sz="1500" b="0" i="0">
                <a:solidFill>
                  <a:srgbClr val="D6F2EC"/>
                </a:solidFill>
                <a:latin typeface="Segoe UI"/>
              </a:rPr>
              <a:t>PIANC / UNCTAD engine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Consolas"/>
              </a:rPr>
              <a:t>     ↓</a:t>
            </a:r>
          </a:p>
          <a:p>
            <a:pPr algn="l">
              <a:spcBef>
                <a:spcPts val="1000"/>
              </a:spcBef>
            </a:pPr>
            <a:r>
              <a:rPr sz="1600" b="1" i="0">
                <a:solidFill>
                  <a:srgbClr val="7A5CFF"/>
                </a:solidFill>
                <a:latin typeface="Consolas"/>
              </a:rPr>
              <a:t>3  </a:t>
            </a:r>
            <a:r>
              <a:rPr sz="1500" b="0" i="0">
                <a:solidFill>
                  <a:srgbClr val="D6F2EC"/>
                </a:solidFill>
                <a:latin typeface="Segoe UI"/>
              </a:rPr>
              <a:t>Port dimensions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Consolas"/>
              </a:rPr>
              <a:t>     ↓</a:t>
            </a:r>
          </a:p>
          <a:p>
            <a:pPr algn="l">
              <a:spcBef>
                <a:spcPts val="1000"/>
              </a:spcBef>
            </a:pPr>
            <a:r>
              <a:rPr sz="1600" b="1" i="0">
                <a:solidFill>
                  <a:srgbClr val="7A5CFF"/>
                </a:solidFill>
                <a:latin typeface="Consolas"/>
              </a:rPr>
              <a:t>4  </a:t>
            </a:r>
            <a:r>
              <a:rPr sz="1500" b="0" i="0">
                <a:solidFill>
                  <a:srgbClr val="D6F2EC"/>
                </a:solidFill>
                <a:latin typeface="Segoe UI"/>
              </a:rPr>
              <a:t>Plan geometry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Consolas"/>
              </a:rPr>
              <a:t>     ↓</a:t>
            </a:r>
          </a:p>
          <a:p>
            <a:pPr algn="l">
              <a:spcBef>
                <a:spcPts val="1000"/>
              </a:spcBef>
            </a:pPr>
            <a:r>
              <a:rPr sz="1600" b="1" i="0">
                <a:solidFill>
                  <a:srgbClr val="7A5CFF"/>
                </a:solidFill>
                <a:latin typeface="Consolas"/>
              </a:rPr>
              <a:t>5  </a:t>
            </a:r>
            <a:r>
              <a:rPr sz="1500" b="0" i="0">
                <a:solidFill>
                  <a:srgbClr val="D6F2EC"/>
                </a:solidFill>
                <a:latin typeface="Segoe UI"/>
              </a:rPr>
              <a:t>DXF · SVG · PNG · 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11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Automated CAD Masterplan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an_vl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874519"/>
            <a:ext cx="3084690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1965960"/>
            <a:ext cx="512064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To-scale schematic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from the computed dimensions, 1 unit = 1 m.</a:t>
            </a:r>
          </a:p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Layered drawing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quay, berths, turning basin, channel, anchorage.</a:t>
            </a:r>
          </a:p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Open formats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DXF (AutoCAD), SVG, PNG, JSON.</a:t>
            </a:r>
          </a:p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Every preset exported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8 design vessels, ready to hand 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12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CASE STUDY ·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Worked Example — Neo-Panamax at Suez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2057400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39" y="21671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VESSEL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13055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Container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57400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1671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13055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New-Panamax / Neo-Panamax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715768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39" y="282549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LOA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78892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366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715768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BEAM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78892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49 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3374136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39" y="3483864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DRAFT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34472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15.2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374136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483864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TRANSIT SPEED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4472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6 kn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1560" y="4032504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4439" y="41422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BLOCK COEFF. CB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10565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0.65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4032504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1422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COMPUTED SQUAT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105656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0.23 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" y="4690872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4439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CHANNEL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4764024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two-way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4690872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EXPOSURE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4764024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moderate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1560" y="5349240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34439" y="545896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MANOEUVRE AIDS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542239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tugs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520" y="5349240"/>
            <a:ext cx="5029200" cy="530352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545896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83B4AB"/>
                </a:solidFill>
                <a:latin typeface="Segoe UI"/>
              </a:rPr>
              <a:t>BERTHS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23960" y="542239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5EF0FF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13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CASE STUDY ·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Computed Port Dimensions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an_neopanam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828800"/>
            <a:ext cx="3068282" cy="4389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1874519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650"/>
              </a:spcBef>
            </a:pPr>
            <a:r>
              <a:rPr sz="1350" b="0" i="0">
                <a:solidFill>
                  <a:srgbClr val="D6F2EC"/>
                </a:solidFill>
                <a:latin typeface="Segoe UI"/>
              </a:rPr>
              <a:t>Approach Channel Depth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16.7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650"/>
              </a:spcBef>
            </a:pPr>
            <a:r>
              <a:rPr sz="1350" b="0" i="0">
                <a:solidFill>
                  <a:srgbClr val="D6F2EC"/>
                </a:solidFill>
                <a:latin typeface="Segoe UI"/>
              </a:rPr>
              <a:t>Approach Channel Width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401.8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650"/>
              </a:spcBef>
            </a:pPr>
            <a:r>
              <a:rPr sz="1350" b="0" i="0">
                <a:solidFill>
                  <a:srgbClr val="D6F2EC"/>
                </a:solidFill>
                <a:latin typeface="Segoe UI"/>
              </a:rPr>
              <a:t>Turning Circle Diameter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585.6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650"/>
              </a:spcBef>
            </a:pPr>
            <a:r>
              <a:rPr sz="1350" b="0" i="0">
                <a:solidFill>
                  <a:srgbClr val="D6F2EC"/>
                </a:solidFill>
                <a:latin typeface="Segoe UI"/>
              </a:rPr>
              <a:t>Turning Basin Area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26.93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ha</a:t>
            </a:r>
          </a:p>
          <a:p>
            <a:pPr algn="l">
              <a:spcBef>
                <a:spcPts val="650"/>
              </a:spcBef>
            </a:pPr>
            <a:r>
              <a:rPr sz="1350" b="0" i="0">
                <a:solidFill>
                  <a:srgbClr val="D6F2EC"/>
                </a:solidFill>
                <a:latin typeface="Segoe UI"/>
              </a:rPr>
              <a:t>Berth Pocket Depth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16.3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650"/>
              </a:spcBef>
            </a:pPr>
            <a:r>
              <a:rPr sz="1350" b="0" i="0">
                <a:solidFill>
                  <a:srgbClr val="D6F2EC"/>
                </a:solidFill>
                <a:latin typeface="Segoe UI"/>
              </a:rPr>
              <a:t>Total Quay Length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841.8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14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CRITICAL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Validation &amp; Limitations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1024128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3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Planning / concept level only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not a construction-issue design.</a:t>
            </a:r>
          </a:p>
          <a:p>
            <a:pPr algn="l">
              <a:spcBef>
                <a:spcPts val="13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Empirical rules give ranges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treat outputs as first-pass envelopes.</a:t>
            </a:r>
          </a:p>
          <a:p>
            <a:pPr algn="l">
              <a:spcBef>
                <a:spcPts val="13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Must be confirmed by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real-time manoeuvring simulation.</a:t>
            </a:r>
          </a:p>
          <a:p>
            <a:pPr algn="l">
              <a:spcBef>
                <a:spcPts val="13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Site data required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met-ocean, tidal, bathymetric &amp; geotechnical surveys.</a:t>
            </a:r>
          </a:p>
          <a:p>
            <a:pPr algn="l">
              <a:spcBef>
                <a:spcPts val="1300"/>
              </a:spcBef>
            </a:pPr>
            <a:r>
              <a:rPr sz="18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800" b="1" i="0">
                <a:solidFill>
                  <a:srgbClr val="D6F2EC"/>
                </a:solidFill>
                <a:latin typeface="Segoe UI"/>
              </a:rPr>
              <a:t>Engineer-in-the-loop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83B4AB"/>
                </a:solidFill>
                <a:latin typeface="Segoe UI"/>
              </a:rPr>
              <a:t>     a qualified maritime engineer signs off.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15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Conclusion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1024128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5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1" i="0">
                <a:solidFill>
                  <a:srgbClr val="D6F2EC"/>
                </a:solidFill>
                <a:latin typeface="Segoe UI"/>
              </a:rPr>
              <a:t>A standards-based dimensioning engine</a:t>
            </a:r>
          </a:p>
          <a:p>
            <a:pPr algn="l">
              <a:spcBef>
                <a:spcPts val="200"/>
              </a:spcBef>
            </a:pPr>
            <a:r>
              <a:rPr sz="1500" b="0" i="0">
                <a:solidFill>
                  <a:srgbClr val="83B4AB"/>
                </a:solidFill>
                <a:latin typeface="Segoe UI"/>
              </a:rPr>
              <a:t>     PIANC / UNCTAD concept methods, fully automated.</a:t>
            </a:r>
          </a:p>
          <a:p>
            <a:pPr algn="l">
              <a:spcBef>
                <a:spcPts val="15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1" i="0">
                <a:solidFill>
                  <a:srgbClr val="D6F2EC"/>
                </a:solidFill>
                <a:latin typeface="Segoe UI"/>
              </a:rPr>
              <a:t>Seconds, not hours</a:t>
            </a:r>
          </a:p>
          <a:p>
            <a:pPr algn="l">
              <a:spcBef>
                <a:spcPts val="200"/>
              </a:spcBef>
            </a:pPr>
            <a:r>
              <a:rPr sz="1500" b="0" i="0">
                <a:solidFill>
                  <a:srgbClr val="83B4AB"/>
                </a:solidFill>
                <a:latin typeface="Segoe UI"/>
              </a:rPr>
              <a:t>     instant, repeatable, validated computations.</a:t>
            </a:r>
          </a:p>
          <a:p>
            <a:pPr algn="l">
              <a:spcBef>
                <a:spcPts val="15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1" i="0">
                <a:solidFill>
                  <a:srgbClr val="D6F2EC"/>
                </a:solidFill>
                <a:latin typeface="Segoe UI"/>
              </a:rPr>
              <a:t>AutoCAD-ready output</a:t>
            </a:r>
          </a:p>
          <a:p>
            <a:pPr algn="l">
              <a:spcBef>
                <a:spcPts val="200"/>
              </a:spcBef>
            </a:pPr>
            <a:r>
              <a:rPr sz="1500" b="0" i="0">
                <a:solidFill>
                  <a:srgbClr val="83B4AB"/>
                </a:solidFill>
                <a:latin typeface="Segoe UI"/>
              </a:rPr>
              <a:t>     to-scale masterplan exported as DXF / SVG / PNG / JSON.</a:t>
            </a:r>
          </a:p>
          <a:p>
            <a:pPr algn="l">
              <a:spcBef>
                <a:spcPts val="1500"/>
              </a:spcBef>
            </a:pPr>
            <a:r>
              <a:rPr sz="19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900" b="1" i="0">
                <a:solidFill>
                  <a:srgbClr val="D6F2EC"/>
                </a:solidFill>
                <a:latin typeface="Segoe UI"/>
              </a:rPr>
              <a:t>Future work</a:t>
            </a:r>
          </a:p>
          <a:p>
            <a:pPr algn="l">
              <a:spcBef>
                <a:spcPts val="200"/>
              </a:spcBef>
            </a:pPr>
            <a:r>
              <a:rPr sz="1500" b="0" i="0">
                <a:solidFill>
                  <a:srgbClr val="83B4AB"/>
                </a:solidFill>
                <a:latin typeface="Segoe UI"/>
              </a:rPr>
              <a:t>     GIS bathymetry · tidal time-series · layout optimisation · 3D / DWG.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16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DESIGN · MAXIMUM LOA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Design for Maximum LOA — ULCV 400 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an_ulc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828800"/>
            <a:ext cx="3162627" cy="4389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1874519"/>
            <a:ext cx="52120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83B4AB"/>
                </a:solidFill>
                <a:latin typeface="Segoe UI"/>
              </a:rPr>
              <a:t>Largest vessel transiting Suez — </a:t>
            </a:r>
            <a:r>
              <a:rPr sz="1300" b="1" i="0">
                <a:solidFill>
                  <a:srgbClr val="5EF0FF"/>
                </a:solidFill>
                <a:latin typeface="Segoe UI"/>
              </a:rPr>
              <a:t>ULCV (Ultra Large Container Vessel)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D6F2EC"/>
                </a:solidFill>
                <a:latin typeface="Consolas"/>
              </a:rPr>
              <a:t>LOA 400 m  ·  B 61.5 m  ·  T 16.5 m  ·  220,000 DWT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6F2EC"/>
                </a:solidFill>
                <a:latin typeface="Segoe UI"/>
              </a:rPr>
              <a:t>Approach Channel Depth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18.6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6F2EC"/>
                </a:solidFill>
                <a:latin typeface="Segoe UI"/>
              </a:rPr>
              <a:t>Approach Channel Width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615.0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6F2EC"/>
                </a:solidFill>
                <a:latin typeface="Segoe UI"/>
              </a:rPr>
              <a:t>Turning Circle Diameter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640.0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6F2EC"/>
                </a:solidFill>
                <a:latin typeface="Segoe UI"/>
              </a:rPr>
              <a:t>Turning Basin Area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32.17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ha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6F2EC"/>
                </a:solidFill>
                <a:latin typeface="Segoe UI"/>
              </a:rPr>
              <a:t>Berth Pocket Depth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17.7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6F2EC"/>
                </a:solidFill>
                <a:latin typeface="Segoe UI"/>
              </a:rPr>
              <a:t>Total Quay Length</a:t>
            </a:r>
          </a:p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9F0C8"/>
                </a:solidFill>
                <a:latin typeface="Consolas"/>
              </a:rPr>
              <a:t>   920.0 </a:t>
            </a:r>
            <a:r>
              <a:rPr sz="1200" b="0" i="0">
                <a:solidFill>
                  <a:srgbClr val="83B4AB"/>
                </a:solidFill>
                <a:latin typeface="Consolas"/>
              </a:rPr>
              <a:t>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17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MET-OCEAN · LECTURE 2A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Wind Rose &amp; Prevailing Wind Direction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indr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83080"/>
            <a:ext cx="475506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1965960"/>
            <a:ext cx="5212080" cy="4069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Polygon method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V_avg = (D1·V1+D2·V2+D3·V3+D4·V4) / ΣD</a:t>
            </a:r>
          </a:p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Recorded 8,687 hr/yr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speed classes 5 / 15 / 25 / 35 kt by direction.</a:t>
            </a:r>
          </a:p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PWD = N  (24.3%)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direction of longest wind duration.</a:t>
            </a:r>
          </a:p>
          <a:p>
            <a:pPr algn="l">
              <a:spcBef>
                <a:spcPts val="1200"/>
              </a:spcBef>
            </a:pPr>
            <a:r>
              <a:rPr sz="1600" b="1" i="0">
                <a:solidFill>
                  <a:srgbClr val="19F0C8"/>
                </a:solidFill>
                <a:latin typeface="Bahnschrift"/>
              </a:rPr>
              <a:t>▸  </a:t>
            </a:r>
            <a:r>
              <a:rPr sz="1600" b="1" i="0">
                <a:solidFill>
                  <a:srgbClr val="D6F2EC"/>
                </a:solidFill>
                <a:latin typeface="Segoe UI"/>
              </a:rPr>
              <a:t>Design rule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83B4AB"/>
                </a:solidFill>
                <a:latin typeface="Segoe UI"/>
              </a:rPr>
              <a:t>     major breakwater oriented PERPENDICULAR to the PWD.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18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WAVES · LECTURES 3A + 4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Wave Transformation → Design Wave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029200" cy="141732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011680"/>
            <a:ext cx="31750" cy="141732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2176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SHOALING  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786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Ks = √(Cg0 / Cg)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971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Cg = nC ; n = ½(1+2kd/sinh 2kd)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011680"/>
            <a:ext cx="5029200" cy="141732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011680"/>
            <a:ext cx="31750" cy="141732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1762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REFRACTION  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5786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Kr = √(cosφ0 / cosφ)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Snell: sinφ/sinφ0 = L/L0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611880"/>
            <a:ext cx="5029200" cy="141732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" y="3611880"/>
            <a:ext cx="31750" cy="141732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7764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DIFFRACTION  Kd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1788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Kd = H / 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from Wiegel charts (breakwater gap)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5029200" cy="141732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611880"/>
            <a:ext cx="31750" cy="141732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7764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00">
                <a:solidFill>
                  <a:srgbClr val="FFB454"/>
                </a:solidFill>
                <a:latin typeface="Bahnschrift"/>
              </a:rPr>
              <a:t>DESIGN WAVE HEIGHT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17880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FFB"/>
                </a:solidFill>
                <a:latin typeface="Consolas"/>
              </a:rPr>
              <a:t>H = Ks · Kr · Kd · H0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3B4AB"/>
                </a:solidFill>
                <a:latin typeface="Segoe UI"/>
              </a:rPr>
              <a:t>transformed deep-water wave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5257800"/>
            <a:ext cx="10241280" cy="86868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5840" y="5257800"/>
            <a:ext cx="31750" cy="86868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4440" y="5358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d = 18.6 m (dredged entrance)   L0 = 100 m   L = 87.1 m   Ks = 0.915   Kr = 0.981   Kd = 0.10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72414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9F0C8"/>
                </a:solidFill>
                <a:latin typeface="Consolas"/>
              </a:rPr>
              <a:t>Design wave  H = 0.225 m      Average design wave length  L0 ≈ 100 m  →  87 m at entrance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7940" cy="502920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91440" cy="91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274320"/>
            <a:ext cx="740030" cy="7132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6291072"/>
            <a:ext cx="10545775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83B4AB"/>
                </a:solidFill>
                <a:latin typeface="Consolas"/>
              </a:rPr>
              <a:t>SUEZ PORT CAD · MASTERPLAN DESIGN AI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7135" y="6355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19F0C8"/>
                </a:solidFill>
                <a:latin typeface="Consolas"/>
              </a:rPr>
              <a:t>19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400">
                <a:solidFill>
                  <a:srgbClr val="FFB454"/>
                </a:solidFill>
                <a:latin typeface="Bahnschrift"/>
              </a:rPr>
              <a:t>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100">
                <a:solidFill>
                  <a:srgbClr val="EAFFFB"/>
                </a:solidFill>
                <a:latin typeface="Bahnschrift"/>
              </a:rPr>
              <a:t>Coastal Calcs Validated vs Lecture Numbers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627632"/>
            <a:ext cx="3108960" cy="3175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659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B454"/>
                </a:solidFill>
                <a:latin typeface="Bahnschrift"/>
              </a:rPr>
              <a:t>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659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B454"/>
                </a:solidFill>
                <a:latin typeface="Bahnschrift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9659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B454"/>
                </a:solidFill>
                <a:latin typeface="Bahnschrift"/>
              </a:rPr>
              <a:t>LECTURE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9659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B454"/>
                </a:solidFill>
                <a:latin typeface="Bahnschrift"/>
              </a:rPr>
              <a:t>COMPUTED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2331720"/>
            <a:ext cx="10241280" cy="1524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2514600"/>
            <a:ext cx="10241280" cy="45720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060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6F2EC"/>
                </a:solidFill>
                <a:latin typeface="Segoe UI"/>
              </a:rPr>
              <a:t>Wind V_avg North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6060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3B4AB"/>
                </a:solidFill>
                <a:latin typeface="Consolas"/>
              </a:rPr>
              <a:t>slide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6060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8.95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060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9F0C8"/>
                </a:solidFill>
                <a:latin typeface="Consolas"/>
              </a:rPr>
              <a:t>8.95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3081528"/>
            <a:ext cx="10241280" cy="457200"/>
          </a:xfrm>
          <a:prstGeom prst="rect">
            <a:avLst/>
          </a:prstGeom>
          <a:solidFill>
            <a:srgbClr val="0B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1729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6F2EC"/>
                </a:solidFill>
                <a:latin typeface="Segoe UI"/>
              </a:rPr>
              <a:t>L0 = 1.56·8²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729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3B4AB"/>
                </a:solidFill>
                <a:latin typeface="Consolas"/>
              </a:rPr>
              <a:t>slide 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1729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100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1729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9F0C8"/>
                </a:solidFill>
                <a:latin typeface="Consolas"/>
              </a:rPr>
              <a:t>99.8 m 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3648456"/>
            <a:ext cx="10241280" cy="45720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398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6F2EC"/>
                </a:solidFill>
                <a:latin typeface="Segoe UI"/>
              </a:rPr>
              <a:t>d / 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7398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3B4AB"/>
                </a:solidFill>
                <a:latin typeface="Consolas"/>
              </a:rPr>
              <a:t>slide 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7398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0.1232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7398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9F0C8"/>
                </a:solidFill>
                <a:latin typeface="Consolas"/>
              </a:rPr>
              <a:t>0.1233 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1560" y="4215383"/>
            <a:ext cx="10241280" cy="457200"/>
          </a:xfrm>
          <a:prstGeom prst="rect">
            <a:avLst/>
          </a:prstGeom>
          <a:solidFill>
            <a:srgbClr val="0B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06823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6F2EC"/>
                </a:solidFill>
                <a:latin typeface="Segoe UI"/>
              </a:rPr>
              <a:t>Wavelength 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306823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3B4AB"/>
                </a:solidFill>
                <a:latin typeface="Consolas"/>
              </a:rPr>
              <a:t>slide 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306823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65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306823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9F0C8"/>
                </a:solidFill>
                <a:latin typeface="Consolas"/>
              </a:rPr>
              <a:t>64.9 m  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" y="4782312"/>
            <a:ext cx="10241280" cy="45720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873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6F2EC"/>
                </a:solidFill>
                <a:latin typeface="Segoe UI"/>
              </a:rPr>
              <a:t>HA  (Kd 0.10)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873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3B4AB"/>
                </a:solidFill>
                <a:latin typeface="Consolas"/>
              </a:rPr>
              <a:t>slide 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4873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0.25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873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9F0C8"/>
                </a:solidFill>
                <a:latin typeface="Consolas"/>
              </a:rPr>
              <a:t>0.25 m  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1560" y="5349240"/>
            <a:ext cx="10241280" cy="457200"/>
          </a:xfrm>
          <a:prstGeom prst="rect">
            <a:avLst/>
          </a:prstGeom>
          <a:solidFill>
            <a:srgbClr val="0B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44067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6F2EC"/>
                </a:solidFill>
                <a:latin typeface="Segoe UI"/>
              </a:rPr>
              <a:t>HA  (Kd 0.145)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44067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3B4AB"/>
                </a:solidFill>
                <a:latin typeface="Consolas"/>
              </a:rPr>
              <a:t>slide 45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544067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F0FF"/>
                </a:solidFill>
                <a:latin typeface="Consolas"/>
              </a:rPr>
              <a:t>0.36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544067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9F0C8"/>
                </a:solidFill>
                <a:latin typeface="Consolas"/>
              </a:rPr>
              <a:t>0.36 m  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60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457200"/>
            <a:ext cx="1897512" cy="182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194560"/>
            <a:ext cx="38100" cy="2377440"/>
          </a:xfrm>
          <a:prstGeom prst="rect">
            <a:avLst/>
          </a:prstGeom>
          <a:solidFill>
            <a:srgbClr val="19F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 spc="200">
                <a:solidFill>
                  <a:srgbClr val="EAFFFB"/>
                </a:solidFill>
                <a:latin typeface="Bahnschrift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 spc="100">
                <a:solidFill>
                  <a:srgbClr val="19F0C8"/>
                </a:solidFill>
                <a:latin typeface="Bahnschrift"/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4480560"/>
            <a:ext cx="4114800" cy="19050"/>
          </a:xfrm>
          <a:prstGeom prst="rect">
            <a:avLst/>
          </a:prstGeom>
          <a:solidFill>
            <a:srgbClr val="0E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663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100">
                <a:solidFill>
                  <a:srgbClr val="83B4AB"/>
                </a:solidFill>
                <a:latin typeface="Consolas"/>
              </a:rPr>
              <a:t>SUEZ PORT CAD · Masterplan Design AI Engineer · ECB 3802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